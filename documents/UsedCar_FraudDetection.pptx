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5000"/>
            </a:srgbClr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48640"/>
            <a:ext cx="5486400" cy="2286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0A0A0F">
              <a:alpha val="45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640080"/>
            <a:ext cx="54864" cy="3840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658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94360" y="100584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India's Used Car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Detection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94360" y="28346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using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Local Outlier Factor &amp; DBSCAN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3749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CarDekho  ·  OLX Autos  ·  Cars24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 Lakh Crore Market  ·  No Fraud Labels  ·  Fully Unsupervised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1371600"/>
          </a:xfrm>
          <a:prstGeom prst="rect">
            <a:avLst/>
          </a:prstGeom>
          <a:solidFill>
            <a:srgbClr val="1A1A2E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₹1.5L Cr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in 2024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faster than new car sales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used car market operates on trust —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pricing authority</a:t>
            </a:r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no mandatory inspection, and listings on CarDekho, OLX Autos &amp; Cars24 are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by sellers.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743200"/>
            <a:ext cx="2651760" cy="1463040"/>
          </a:xfrm>
          <a:prstGeom prst="rect">
            <a:avLst/>
          </a:prstGeom>
          <a:solidFill>
            <a:srgbClr val="1A1A2E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43200"/>
            <a:ext cx="265176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Underpriced Listings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2461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Lures buyers urgently — scam or salvaged vehicles disguised as intact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743200"/>
            <a:ext cx="2651760" cy="1463040"/>
          </a:xfrm>
          <a:prstGeom prst="rect">
            <a:avLst/>
          </a:prstGeom>
          <a:solidFill>
            <a:srgbClr val="1A1A2E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743200"/>
            <a:ext cx="265176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Overpriced Listings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2461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uninformed buyers — 2017 car priced as 2021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743200"/>
            <a:ext cx="2651760" cy="1463040"/>
          </a:xfrm>
          <a:prstGeom prst="rect">
            <a:avLst/>
          </a:prstGeom>
          <a:solidFill>
            <a:srgbClr val="1A1A2E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743200"/>
            <a:ext cx="2651760" cy="5486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Tampering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32461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rolled back to inflate price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89120"/>
            <a:ext cx="265176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89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City-based Price Manipulation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389120"/>
            <a:ext cx="265176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4389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Misrepresentation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35040" y="4389120"/>
            <a:ext cx="2651760" cy="411480"/>
          </a:xfrm>
          <a:prstGeom prst="rect">
            <a:avLst/>
          </a:prstGeom>
          <a:solidFill>
            <a:srgbClr val="1E1E2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4389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Listings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STANDARD ML DOESN'T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fraud data exists.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classifier needs thousands of rows labeled 'fraud' and 'not fraud'. No such public dataset exists for Indian used car listings.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3474720" cy="36576"/>
          </a:xfrm>
          <a:prstGeom prst="rect">
            <a:avLst/>
          </a:prstGeom>
          <a:solidFill>
            <a:srgbClr val="E74C3C">
              <a:alpha val="6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Unsupervised Anomaly Detection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38144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learn what 'normal' looks like from the data itself — then flag anything that deviates significantly. No labels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188720"/>
            <a:ext cx="4297680" cy="1051560"/>
          </a:xfrm>
          <a:prstGeom prst="rect">
            <a:avLst/>
          </a:prstGeom>
          <a:solidFill>
            <a:srgbClr val="1E0A0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Supervised (Not suitable)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labeled fraud dataset · Not available publicly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2377440"/>
            <a:ext cx="4297680" cy="1051560"/>
          </a:xfrm>
          <a:prstGeom prst="rect">
            <a:avLst/>
          </a:prstGeom>
          <a:solidFill>
            <a:srgbClr val="0A1E0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Unsupervised (Our approach)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788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normality from data · Flags statistical outliers · No labels required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3611880"/>
            <a:ext cx="4297680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4023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listings ARE statistical outliers — they deviate from normal pricing patterns. Anomaly detection finds them without any supervision.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automatically flags statistically abnormal car listings given price, brand, model, year, mileage, fuel &amp; city — and explains WHY they are suspicious.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840480" cy="2377440"/>
          </a:xfrm>
          <a:prstGeom prst="rect">
            <a:avLst/>
          </a:prstGeom>
          <a:solidFill>
            <a:srgbClr val="0A1A0A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76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Price anomalies relative to market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Mileage anomalies for age/brand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City-level pricing deviations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Ensemble fraud risk score (0–100)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0416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SHAP-based explanation per listing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103120"/>
            <a:ext cx="4206240" cy="2377440"/>
          </a:xfrm>
          <a:prstGeom prst="rect">
            <a:avLst/>
          </a:prstGeom>
          <a:solidFill>
            <a:srgbClr val="1A0A0A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1762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OUT OF SCOPE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Confirming actual fraud (no ground truth)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944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Image analysis of car photos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Document verification (RC, insurance)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675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listing monitoring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system detects statistical anomalies — it does not confirm real-world fraud.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THE THREE ALGORITHMS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143000"/>
            <a:ext cx="2834640" cy="3794760"/>
          </a:xfrm>
          <a:prstGeom prst="rect">
            <a:avLst/>
          </a:prstGeom>
          <a:solidFill>
            <a:srgbClr val="1A1A2E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16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OUTLIERS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8928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point globally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isolate?"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41448"/>
            <a:ext cx="2651760" cy="36576"/>
          </a:xfrm>
          <a:prstGeom prst="rect">
            <a:avLst/>
          </a:prstGeom>
          <a:solidFill>
            <a:srgbClr val="E74C3C">
              <a:alpha val="5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514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cars that stand out from the ENTIRE dataset. A ₹95K Fortuner in a dataset where similar ones sell for ₹22L is isolated almost immediately — very few random cuts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931920"/>
            <a:ext cx="265176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4206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₹95,000 Fortuner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₹22 Lakhs)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834640" cy="3794760"/>
          </a:xfrm>
          <a:prstGeom prst="rect">
            <a:avLst/>
          </a:prstGeom>
          <a:solidFill>
            <a:srgbClr val="1A1A2E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43000"/>
            <a:ext cx="283464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216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ANOMALIES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91840" y="14813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Outlier Factor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18928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point unusual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neighbours?"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441448"/>
            <a:ext cx="2651760" cy="36576"/>
          </a:xfrm>
          <a:prstGeom prst="rect">
            <a:avLst/>
          </a:prstGeom>
          <a:solidFill>
            <a:srgbClr val="F39C12">
              <a:alpha val="5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514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subtle fraud within a brand cluster. A Swift priced ₹1.5L below every other 2019 Swift in the dataset — LOF detects local density differences.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931920"/>
            <a:ext cx="265176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Swift @ ₹2.5L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(peers: ₹4–5L)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200" y="1143000"/>
            <a:ext cx="2834640" cy="3794760"/>
          </a:xfrm>
          <a:prstGeom prst="rect">
            <a:avLst/>
          </a:prstGeom>
          <a:solidFill>
            <a:srgbClr val="1A1A2E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1143000"/>
            <a:ext cx="2834640" cy="7315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216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/ NO CLUSTER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3640" y="14813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DBSCAN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3640" y="18928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this point belong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any cluster at all?"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2441448"/>
            <a:ext cx="2651760" cy="36576"/>
          </a:xfrm>
          <a:prstGeom prst="rect">
            <a:avLst/>
          </a:prstGeom>
          <a:solidFill>
            <a:srgbClr val="3498DB">
              <a:alpha val="50000"/>
            </a:srgbClr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5146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noise points (−1) — cars that don't fit any natural market grouping. A 2012 car with 2L km at ₹18L has no market peers at all.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63640" y="3931920"/>
            <a:ext cx="265176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39776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4206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car, 2L km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₹18L — no peers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PRICE PREDICTION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508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1508760" cy="27432"/>
          </a:xfrm>
          <a:prstGeom prst="rect">
            <a:avLst/>
          </a:prstGeom>
          <a:solidFill>
            <a:srgbClr val="F39C12">
              <a:alpha val="6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 cleaned data (excl. price)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143000"/>
            <a:ext cx="1508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57400" y="1143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057400" y="1600200"/>
            <a:ext cx="1508760" cy="27432"/>
          </a:xfrm>
          <a:prstGeom prst="rect">
            <a:avLst/>
          </a:prstGeom>
          <a:solidFill>
            <a:srgbClr val="F39C12">
              <a:alpha val="6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6276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99339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'fair market price' per listing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40480" y="1143000"/>
            <a:ext cx="1508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1143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840480" y="1600200"/>
            <a:ext cx="1508760" cy="27432"/>
          </a:xfrm>
          <a:prstGeom prst="rect">
            <a:avLst/>
          </a:prstGeom>
          <a:solidFill>
            <a:srgbClr val="F39C12">
              <a:alpha val="6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6276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Gap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86200" y="199339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price_gap = listed − predicted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23560" y="1143000"/>
            <a:ext cx="1508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143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623560" y="1600200"/>
            <a:ext cx="1508760" cy="27432"/>
          </a:xfrm>
          <a:prstGeom prst="rect">
            <a:avLst/>
          </a:prstGeom>
          <a:solidFill>
            <a:srgbClr val="F39C12">
              <a:alpha val="6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16276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Feature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0" y="199339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price_gap &amp; deviation% into anomaly models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06640" y="1143000"/>
            <a:ext cx="1508760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406640" y="114300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406640" y="1600200"/>
            <a:ext cx="1508760" cy="27432"/>
          </a:xfrm>
          <a:prstGeom prst="rect">
            <a:avLst/>
          </a:prstGeom>
          <a:solidFill>
            <a:srgbClr val="F39C12">
              <a:alpha val="60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62763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52360" y="1993392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+ price deviation combined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solidFill>
            <a:srgbClr val="16213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566160"/>
            <a:ext cx="27432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95A5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206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first — gives R² benchmark to beat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54680" y="3566160"/>
            <a:ext cx="2743200" cy="1371600"/>
          </a:xfrm>
          <a:prstGeom prst="rect">
            <a:avLst/>
          </a:prstGeom>
          <a:solidFill>
            <a:srgbClr val="1A1A2E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4612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4612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46120" y="4206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data, robust to outliers, fast on 10k rows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3566160"/>
            <a:ext cx="2743200" cy="1371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264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Option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0" y="3858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42062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5–15% better accuracy — add for model comparison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74320" y="50292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R² &gt; 0.82  ·  MAE (avg ₹ error)  ·  RMSE (penalises large errors)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2062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Risk Score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 combining all 3 anomaly signals. 80+ flagged by all algorithms — very suspicious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20624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4206240" cy="6400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Anomaly Map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— Price vs Mileage vs Age coloured by risk score. Suspicious cluster visible separately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20624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08960"/>
            <a:ext cx="420624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Listing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Explanation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11480" y="3931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67% below market for 2019 Creta diesel, and mileage is abnormally low for a 7-yr-old car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206240" cy="1828800"/>
          </a:xfrm>
          <a:prstGeom prst="rect">
            <a:avLst/>
          </a:prstGeom>
          <a:solidFill>
            <a:srgbClr val="1A1A2E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08960"/>
            <a:ext cx="42062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Streamlit Demo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39319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car details → get real-time fraud risk score. Deployable online — shareable portfolio link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2560320"/>
            <a:ext cx="9144000" cy="3803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 CARD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5303520" cy="4160520"/>
          </a:xfrm>
          <a:prstGeom prst="rect">
            <a:avLst/>
          </a:prstGeom>
          <a:solidFill>
            <a:srgbClr val="0D0D1A">
              <a:alpha val="90000"/>
            </a:srgbClr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777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2019 Hyundai Creta 1.6 Diesel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58,000 km · Bhopal · 1st Owner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1554480"/>
            <a:ext cx="4846320" cy="27432"/>
          </a:xfrm>
          <a:prstGeom prst="rect">
            <a:avLst/>
          </a:prstGeom>
          <a:solidFill>
            <a:srgbClr val="E74C3C">
              <a:alpha val="6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6276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Price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246120" y="16276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₹6,20,000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039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Fair Value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46120" y="203911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₹11,40,000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4505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46120" y="24505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−₹5,20,000  (−45.6%)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28620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Score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46120" y="286207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273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Score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46120" y="32735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3685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Label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46120" y="368503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 (−1)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160520"/>
            <a:ext cx="484632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FINAL FRAUD RISK: 91 / 100 — HIGH RISK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852160" y="685800"/>
            <a:ext cx="2971800" cy="4160520"/>
          </a:xfrm>
          <a:prstGeom prst="rect">
            <a:avLst/>
          </a:prstGeom>
          <a:solidFill>
            <a:srgbClr val="0D0D1A">
              <a:alpha val="90000"/>
            </a:srgbClr>
          </a:solidFill>
          <a:ln w="254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035040" y="777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3504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flagged?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03504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deviation −45.6%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35040" y="1828800"/>
            <a:ext cx="2345436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21945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Abnormally low mileage ratio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035040" y="2468880"/>
            <a:ext cx="156362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0" y="2834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price mismatch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035040" y="3108960"/>
            <a:ext cx="91211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0" y="34747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score 0.82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35040" y="3749040"/>
            <a:ext cx="521208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41605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driver: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deviation −45.6%</a:t>
            </a:r>
            <a:endParaRPr lang="en-US" sz="900" dirty="0"/>
          </a:p>
          <a:p>
            <a:pPr algn="l" indent="0" marL="0">
              <a:buNone/>
            </a:pPr>
            <a:r>
              <a:rPr lang="en-US" sz="9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 signal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Listings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143000"/>
            <a:ext cx="201168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50592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143000"/>
            <a:ext cx="201168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26864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03136" y="1143000"/>
            <a:ext cx="201168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17043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2010–2024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03136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Range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33172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 FOR ANOMALY DETECTION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8595360" cy="320040"/>
          </a:xfrm>
          <a:prstGeom prst="rect">
            <a:avLst/>
          </a:prstGeom>
          <a:solidFill>
            <a:srgbClr val="14141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97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2697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Maruti, Hyundai, Tata, Honda…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8595360" cy="320040"/>
          </a:xfrm>
          <a:prstGeom prst="rect">
            <a:avLst/>
          </a:prstGeom>
          <a:solidFill>
            <a:srgbClr val="1A1A28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make_year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9456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3017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solidFill>
            <a:srgbClr val="14141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375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km_driven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9456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0" y="3337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— anomaly if too low/high for age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solidFill>
            <a:srgbClr val="1A1A28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9456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3657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asking price in ₹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solidFill>
            <a:srgbClr val="14141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fuel_type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19456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Petrol, Diesel, CNG, Electric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297680"/>
            <a:ext cx="8595360" cy="320040"/>
          </a:xfrm>
          <a:prstGeom prst="rect">
            <a:avLst/>
          </a:prstGeom>
          <a:solidFill>
            <a:srgbClr val="1A1A28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transmission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194560" y="4297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Automatic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617720"/>
            <a:ext cx="8595360" cy="320040"/>
          </a:xfrm>
          <a:prstGeom prst="rect">
            <a:avLst/>
          </a:prstGeom>
          <a:solidFill>
            <a:srgbClr val="14141E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617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reg_number (city)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194560" y="4617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DL, HR, KA, MH, TS — city code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74320" y="48646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price_gap and price_deviation_% are engineered features added AFTER price prediction — these significantly boost anomaly detection accuracy.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3200400" y="457200"/>
            <a:ext cx="5669280" cy="23591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>
              <a:alpha val="60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1480" y="548640"/>
            <a:ext cx="54864" cy="32918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914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labeled fraud data → Unsupervised anomaly detection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1938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 algorithms catching different fraud types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3225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Price prediction feeds back into anomaly scoring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7066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SHAP explanations per flagged listing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3090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Streamlit demo — deployable portfolio project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3886200"/>
            <a:ext cx="8321040" cy="1005840"/>
          </a:xfrm>
          <a:prstGeom prst="rect">
            <a:avLst/>
          </a:prstGeom>
          <a:solidFill>
            <a:srgbClr val="1A1A2E">
              <a:alpha val="80000"/>
            </a:srgbClr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93192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"India's used car market has no pricing authority and no fraud labels — so we built an unsupervised anomaly detection system using three algorithms that each catch a different type of fraud, combined into a single risk score with SHAP explanations."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Fraud Detection — India</dc:title>
  <dc:subject>PptxGenJS Presentation</dc:subject>
  <dc:creator>PptxGenJS</dc:creator>
  <cp:lastModifiedBy>PptxGenJS</cp:lastModifiedBy>
  <cp:revision>1</cp:revision>
  <dcterms:created xsi:type="dcterms:W3CDTF">2026-06-09T10:12:54Z</dcterms:created>
  <dcterms:modified xsi:type="dcterms:W3CDTF">2026-06-09T10:12:54Z</dcterms:modified>
</cp:coreProperties>
</file>